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4" d="100"/>
          <a:sy n="144" d="100"/>
        </p:scale>
        <p:origin x="57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10747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2286000"/>
          </a:xfrm>
          <a:prstGeom prst="rect">
            <a:avLst/>
          </a:prstGeom>
          <a:solidFill>
            <a:srgbClr val="252B3B"/>
          </a:solidFill>
          <a:ln w="12700">
            <a:solidFill>
              <a:srgbClr val="252B3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0" y="0"/>
            <a:ext cx="914400" cy="2286000"/>
          </a:xfrm>
          <a:prstGeom prst="rect">
            <a:avLst/>
          </a:prstGeom>
          <a:solidFill>
            <a:srgbClr val="E8453C">
              <a:alpha val="30000"/>
            </a:srgbClr>
          </a:solidFill>
          <a:ln w="12700">
            <a:solidFill>
              <a:srgbClr val="E8453C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502920"/>
            <a:ext cx="1005840" cy="1005840"/>
          </a:xfrm>
          <a:prstGeom prst="ellipse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4360" y="667512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0040" y="182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20040" y="2029968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Коммерческое предложение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рекламному размещению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20040" y="2578608"/>
            <a:ext cx="658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Отопление</a:t>
            </a:r>
            <a:endParaRPr lang="en-US" sz="4400" dirty="0"/>
          </a:p>
        </p:txBody>
      </p:sp>
      <p:sp>
        <p:nvSpPr>
          <p:cNvPr id="12" name="Text 9"/>
          <p:cNvSpPr/>
          <p:nvPr/>
        </p:nvSpPr>
        <p:spPr>
          <a:xfrm>
            <a:off x="320040" y="361188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Тепло в доме начинается с правильного выбора — помогите сделать его первыми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52B3B"/>
          </a:solidFill>
          <a:ln w="12700">
            <a:solidFill>
              <a:srgbClr val="252B3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Оффер для партнёров и рекламодателей  ·  PASS24.online  ·  PASS24 Market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0" y="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 err="1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Отопление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64008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PASS24.online — сильный B2B/B2C-канал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1371600"/>
            <a:ext cx="47548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371600"/>
            <a:ext cx="64008" cy="2560320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813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подходит</a:t>
            </a:r>
            <a:endParaRPr lang="en-US" sz="11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2920" y="1874520"/>
            <a:ext cx="201168" cy="20116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77240" y="1819656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Владельцы домов и коттеджей — основная аудитория PASS24.online</a:t>
            </a:r>
            <a:endParaRPr lang="en-US" sz="11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2920" y="2514600"/>
            <a:ext cx="201168" cy="20116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77240" y="2459736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Инженерные сервисы воспринимаются органично в экосистеме объекта</a:t>
            </a:r>
            <a:endParaRPr lang="en-US" sz="11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2920" y="3154680"/>
            <a:ext cx="201168" cy="20116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77240" y="3099816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Витрина раскрывает кейсы, подход к монтажу, энергоэффективность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257800" y="1371600"/>
            <a:ext cx="1737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1"/>
          <p:cNvSpPr/>
          <p:nvPr/>
        </p:nvSpPr>
        <p:spPr>
          <a:xfrm>
            <a:off x="5257800" y="15087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300 000+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5257800" y="19659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Активных пользователей</a:t>
            </a:r>
            <a:endParaRPr lang="en-US" sz="900" dirty="0"/>
          </a:p>
        </p:txBody>
      </p:sp>
      <p:sp>
        <p:nvSpPr>
          <p:cNvPr id="18" name="Shape 13"/>
          <p:cNvSpPr/>
          <p:nvPr/>
        </p:nvSpPr>
        <p:spPr>
          <a:xfrm>
            <a:off x="7223760" y="1371600"/>
            <a:ext cx="1737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14"/>
          <p:cNvSpPr/>
          <p:nvPr/>
        </p:nvSpPr>
        <p:spPr>
          <a:xfrm>
            <a:off x="7223760" y="15087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14 000</a:t>
            </a:r>
            <a:endParaRPr lang="en-US" sz="2200" dirty="0"/>
          </a:p>
        </p:txBody>
      </p:sp>
      <p:sp>
        <p:nvSpPr>
          <p:cNvPr id="20" name="Text 15"/>
          <p:cNvSpPr/>
          <p:nvPr/>
        </p:nvSpPr>
        <p:spPr>
          <a:xfrm>
            <a:off x="7223760" y="19659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DAU — ежедневно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5257800" y="2697480"/>
            <a:ext cx="1737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Text 17"/>
          <p:cNvSpPr/>
          <p:nvPr/>
        </p:nvSpPr>
        <p:spPr>
          <a:xfrm>
            <a:off x="5257800" y="28346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 млн+</a:t>
            </a:r>
            <a:endParaRPr lang="en-US" sz="2200" dirty="0"/>
          </a:p>
        </p:txBody>
      </p:sp>
      <p:sp>
        <p:nvSpPr>
          <p:cNvPr id="23" name="Text 18"/>
          <p:cNvSpPr/>
          <p:nvPr/>
        </p:nvSpPr>
        <p:spPr>
          <a:xfrm>
            <a:off x="5257800" y="32918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Показов в месяц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7223760" y="2697480"/>
            <a:ext cx="1737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Text 20"/>
          <p:cNvSpPr/>
          <p:nvPr/>
        </p:nvSpPr>
        <p:spPr>
          <a:xfrm>
            <a:off x="7223760" y="28346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4 300</a:t>
            </a:r>
            <a:endParaRPr lang="en-US" sz="2200" dirty="0"/>
          </a:p>
        </p:txBody>
      </p:sp>
      <p:sp>
        <p:nvSpPr>
          <p:cNvPr id="26" name="Text 21"/>
          <p:cNvSpPr/>
          <p:nvPr/>
        </p:nvSpPr>
        <p:spPr>
          <a:xfrm>
            <a:off x="7223760" y="32918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Новых пользователей / мес</a:t>
            </a:r>
            <a:endParaRPr lang="en-US" sz="900" dirty="0"/>
          </a:p>
        </p:txBody>
      </p:sp>
      <p:sp>
        <p:nvSpPr>
          <p:cNvPr id="27" name="Shape 22"/>
          <p:cNvSpPr/>
          <p:nvPr/>
        </p:nvSpPr>
        <p:spPr>
          <a:xfrm>
            <a:off x="320040" y="4160520"/>
            <a:ext cx="8503920" cy="640080"/>
          </a:xfrm>
          <a:prstGeom prst="rect">
            <a:avLst/>
          </a:prstGeom>
          <a:solidFill>
            <a:srgbClr val="FEF1F1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502920" y="42245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массовый случайный трафик — а доступ к людям, которые управляют недвижимостью и объектами. Ежедневно.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  ·  PASS24 Market  ·  Рекламный оффер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0" y="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 err="1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Отопление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64008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Боли рекламодателя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20040" y="123444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Типичные проблемы при продвижении в сегменте «Отопление»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691640"/>
            <a:ext cx="274320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691640"/>
            <a:ext cx="2743200" cy="64008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4632" y="1828800"/>
            <a:ext cx="411480" cy="411480"/>
          </a:xfrm>
          <a:prstGeom prst="ellipse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" y="1828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2920" y="2395728"/>
            <a:ext cx="256032" cy="25603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22960" y="24231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84632" y="274320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Ярко выраженная сезонность и высокий спрос в короткий период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200400" y="1691640"/>
            <a:ext cx="274320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200400" y="1691640"/>
            <a:ext cx="2743200" cy="64008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364992" y="1828800"/>
            <a:ext cx="411480" cy="411480"/>
          </a:xfrm>
          <a:prstGeom prst="ellipse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364992" y="1828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83280" y="2395728"/>
            <a:ext cx="256032" cy="256032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703320" y="24231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3364992" y="274320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Дорогой поиск тёплых лидов, особенно в премиальном частном сегменте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6080760" y="1691640"/>
            <a:ext cx="274320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6080760" y="1691640"/>
            <a:ext cx="2743200" cy="64008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6245352" y="1828800"/>
            <a:ext cx="411480" cy="411480"/>
          </a:xfrm>
          <a:prstGeom prst="ellipse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6245352" y="1828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63640" y="2395728"/>
            <a:ext cx="256032" cy="256032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583680" y="24231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6245352" y="274320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Нужно продавать надёжность и энергоэффективность, а не просто монтаж</a:t>
            </a:r>
            <a:endParaRPr lang="en-US" sz="1050" dirty="0"/>
          </a:p>
        </p:txBody>
      </p:sp>
      <p:sp>
        <p:nvSpPr>
          <p:cNvPr id="28" name="Shape 23"/>
          <p:cNvSpPr/>
          <p:nvPr/>
        </p:nvSpPr>
        <p:spPr>
          <a:xfrm>
            <a:off x="320040" y="4389120"/>
            <a:ext cx="8503920" cy="347472"/>
          </a:xfrm>
          <a:prstGeom prst="rect">
            <a:avLst/>
          </a:prstGeom>
          <a:solidFill>
            <a:srgbClr val="FEF1F1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502920" y="44348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 решает эти задачи — точная аудитория, нативная среда, доступ к ЛПР.</a:t>
            </a:r>
            <a:endParaRPr lang="en-US" sz="1050" dirty="0"/>
          </a:p>
        </p:txBody>
      </p:sp>
      <p:sp>
        <p:nvSpPr>
          <p:cNvPr id="30" name="Shape 2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  ·  PASS24 Market  ·  Рекламный оффер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0" y="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 err="1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Отопление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64008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получает рекламодатель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1371600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371600"/>
            <a:ext cx="64008" cy="1234440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4632" y="1481328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1444752"/>
            <a:ext cx="35204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Доступ к домовладельцам — самой релевантной аудитории для отопления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663440" y="1371600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63440" y="1371600"/>
            <a:ext cx="64008" cy="1234440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28032" y="1481328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166360" y="1444752"/>
            <a:ext cx="35204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Ежедневный контакт с пользователями в момент управления объектом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320040" y="2834640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20040" y="2834640"/>
            <a:ext cx="64008" cy="1234440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4632" y="2944368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2960" y="2907792"/>
            <a:ext cx="35204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Место для аргументов, кейсов и описания технологии монтажа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4663440" y="2834640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4663440" y="2834640"/>
            <a:ext cx="64008" cy="1234440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28032" y="2944368"/>
            <a:ext cx="256032" cy="25603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166360" y="2907792"/>
            <a:ext cx="35204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для дополнительного сбора заявок на монтаж и сервис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320040" y="4224528"/>
            <a:ext cx="8503920" cy="50292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502920" y="4251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Аналитика размещения: показы · клики · уникальные пользователи · UTM-ссылки на стороне рекламодателя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  ·  PASS24 Market  ·  Рекламный оффер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0" y="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 err="1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Отопление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64008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Рекомендуемый пакет размещения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2743200" cy="3108960"/>
          </a:xfrm>
          <a:prstGeom prst="rect">
            <a:avLst/>
          </a:prstGeom>
          <a:solidFill>
            <a:srgbClr val="FFFFFF"/>
          </a:solidFill>
          <a:ln w="25400">
            <a:solidFill>
              <a:srgbClr val="E8453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417320"/>
            <a:ext cx="2743200" cy="54864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4632" y="1554480"/>
            <a:ext cx="1234440" cy="256032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" y="155448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Рекомендуется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84632" y="193852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Баннер в приложении + Витрина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84632" y="24871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100 000 ₽ / мес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84632" y="2907792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Базовый и самый сильный оффер.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Ежедневный контакт + место для аргументов, кейсов и ссылок.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0" y="1417320"/>
            <a:ext cx="27432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0" y="1417320"/>
            <a:ext cx="2743200" cy="54864"/>
          </a:xfrm>
          <a:prstGeom prst="rect">
            <a:avLst/>
          </a:prstGeom>
          <a:solidFill>
            <a:srgbClr val="9BA3AF"/>
          </a:solidFill>
          <a:ln w="12700">
            <a:solidFill>
              <a:srgbClr val="9BA3A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64992" y="1554480"/>
            <a:ext cx="1234440" cy="256032"/>
          </a:xfrm>
          <a:prstGeom prst="rect">
            <a:avLst/>
          </a:prstGeom>
          <a:solidFill>
            <a:srgbClr val="9BA3AF"/>
          </a:solidFill>
          <a:ln w="12700">
            <a:solidFill>
              <a:srgbClr val="9BA3A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64992" y="155448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усиление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364992" y="193852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Баннер в админ-панели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364992" y="24871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+20 000 ₽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364992" y="2907792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B2B-работы с управляющими, администраторами и УК.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Доступ к лицам, принимающим инфраструктурные решения.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080760" y="1417320"/>
            <a:ext cx="27432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080760" y="1417320"/>
            <a:ext cx="2743200" cy="54864"/>
          </a:xfrm>
          <a:prstGeom prst="rect">
            <a:avLst/>
          </a:prstGeom>
          <a:solidFill>
            <a:srgbClr val="9BA3AF"/>
          </a:solidFill>
          <a:ln w="12700">
            <a:solidFill>
              <a:srgbClr val="9BA3A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45352" y="1554480"/>
            <a:ext cx="1234440" cy="256032"/>
          </a:xfrm>
          <a:prstGeom prst="rect">
            <a:avLst/>
          </a:prstGeom>
          <a:solidFill>
            <a:srgbClr val="9BA3AF"/>
          </a:solidFill>
          <a:ln w="12700">
            <a:solidFill>
              <a:srgbClr val="9BA3A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45352" y="155448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Дополнение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245352" y="193852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PASS24 Market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245352" y="24871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Бесплатно / 50 000 ₽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245352" y="2907792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Бесплатно при баннерном размещении.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Или отдельно — по агентской performance-модели.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20040" y="4645152"/>
            <a:ext cx="8503920" cy="137160"/>
          </a:xfrm>
          <a:prstGeom prst="rect">
            <a:avLst/>
          </a:prstGeom>
          <a:solidFill>
            <a:srgbClr val="FEF1F1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4663440"/>
            <a:ext cx="8321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Баннер + Витрина — 100 000 ₽  ·  Marketplace подключается бесплатно при баннерном размещении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  ·  PASS24 Market  ·  Рекламный оффер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0" y="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 err="1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Отопление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64008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Рекламные сообщения и угол подачи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20040" y="123444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Примеры сообщений для баннера и витрины в PASS24.online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691640"/>
            <a:ext cx="8503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691640"/>
            <a:ext cx="64008" cy="749808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856232"/>
            <a:ext cx="384048" cy="384048"/>
          </a:xfrm>
          <a:prstGeom prst="ellipse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856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1560" y="1938528"/>
            <a:ext cx="201168" cy="20116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325880" y="178308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Отопление под ключ: котёл, радиаторы, тёплый пол — один подрядчик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320040" y="2606040"/>
            <a:ext cx="8503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20040" y="2606040"/>
            <a:ext cx="64008" cy="749808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48640" y="2770632"/>
            <a:ext cx="384048" cy="384048"/>
          </a:xfrm>
          <a:prstGeom prst="ellipse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48640" y="2770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1560" y="2852928"/>
            <a:ext cx="201168" cy="20116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325880" y="269748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ждите октября — смонтируем систему отопления с гарантией до сезона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320040" y="3520440"/>
            <a:ext cx="8503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320040" y="3520440"/>
            <a:ext cx="64008" cy="749808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548640" y="3685032"/>
            <a:ext cx="384048" cy="384048"/>
          </a:xfrm>
          <a:prstGeom prst="ellipse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48640" y="3685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1560" y="3767328"/>
            <a:ext cx="201168" cy="201168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325880" y="361188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Энергоэффективное отопление для загородного дома: проект + монтаж + сервис</a:t>
            </a:r>
            <a:endParaRPr lang="en-US" sz="1250" dirty="0"/>
          </a:p>
        </p:txBody>
      </p:sp>
      <p:sp>
        <p:nvSpPr>
          <p:cNvPr id="25" name="Shape 20"/>
          <p:cNvSpPr/>
          <p:nvPr/>
        </p:nvSpPr>
        <p:spPr>
          <a:xfrm>
            <a:off x="320040" y="4526280"/>
            <a:ext cx="8503920" cy="201168"/>
          </a:xfrm>
          <a:prstGeom prst="rect">
            <a:avLst/>
          </a:prstGeom>
          <a:solidFill>
            <a:srgbClr val="FEF1F1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411480" y="4544568"/>
            <a:ext cx="8321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Угол подачи: не продажа «в лоб», а польза для вашего объекта, комфорта и эксплуатации. Нативно — в контексте ежедневного управления.</a:t>
            </a:r>
            <a:endParaRPr lang="en-US" sz="850" dirty="0"/>
          </a:p>
        </p:txBody>
      </p:sp>
      <p:sp>
        <p:nvSpPr>
          <p:cNvPr id="27" name="Shape 2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  ·  PASS24 Market  ·  Рекламный оффер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3200400"/>
            <a:ext cx="1371600" cy="1943100"/>
          </a:xfrm>
          <a:prstGeom prst="rect">
            <a:avLst/>
          </a:prstGeom>
          <a:solidFill>
            <a:srgbClr val="252B3B"/>
          </a:solidFill>
          <a:ln w="12700">
            <a:solidFill>
              <a:srgbClr val="252B3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03920" y="0"/>
            <a:ext cx="640080" cy="5143500"/>
          </a:xfrm>
          <a:prstGeom prst="rect">
            <a:avLst/>
          </a:prstGeom>
          <a:solidFill>
            <a:srgbClr val="E8453C">
              <a:alpha val="20000"/>
            </a:srgbClr>
          </a:solidFill>
          <a:ln w="12700">
            <a:solidFill>
              <a:srgbClr val="E8453C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74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685800"/>
            <a:ext cx="2011680" cy="274320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6858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Отопление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20040" y="1078992"/>
            <a:ext cx="6858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Готовы разместиться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PASS24.online?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20040" y="237744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Сезон начнётся — ваши конкуренты уже в PASS24.online.</a:t>
            </a:r>
            <a:endParaRPr lang="en-US" sz="1300" dirty="0"/>
          </a:p>
          <a:p>
            <a:pPr marL="0" indent="0">
              <a:buNone/>
            </a:pPr>
            <a:r>
              <a:rPr lang="en-US" sz="1300" i="1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Займите место рядом с вашей аудиторией прямо сейчас.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3246120"/>
            <a:ext cx="3474720" cy="566928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2920" y="3346704"/>
            <a:ext cx="320040" cy="32004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68680" y="3273552"/>
            <a:ext cx="2788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Получить медиакит и КП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320040" y="39776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  ·  PASS24 Market  ·  Рекламное размещение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52B3B"/>
          </a:solidFill>
          <a:ln w="12700">
            <a:solidFill>
              <a:srgbClr val="252B3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Оффер для партнёров и рекламодателей  ·  PASS24.online  ·  PASS24 Market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525</Words>
  <Application>Microsoft Office PowerPoint</Application>
  <PresentationFormat>Экран (16:9)</PresentationFormat>
  <Paragraphs>95</Paragraphs>
  <Slides>7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Evgeniy Kornilov</cp:lastModifiedBy>
  <cp:revision>2</cp:revision>
  <dcterms:created xsi:type="dcterms:W3CDTF">2026-04-09T07:34:17Z</dcterms:created>
  <dcterms:modified xsi:type="dcterms:W3CDTF">2026-04-09T12:55:18Z</dcterms:modified>
</cp:coreProperties>
</file>