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image" Target="../media/image-2-3.png"/><Relationship Id="rId4" Type="http://schemas.openxmlformats.org/officeDocument/2006/relationships/image" Target="../media/image-2-4.svg"/><Relationship Id="rId5" Type="http://schemas.openxmlformats.org/officeDocument/2006/relationships/image" Target="../media/image-2-5.png"/><Relationship Id="rId6" Type="http://schemas.openxmlformats.org/officeDocument/2006/relationships/image" Target="../media/image-2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image" Target="../media/image-3-3.png"/><Relationship Id="rId4" Type="http://schemas.openxmlformats.org/officeDocument/2006/relationships/image" Target="../media/image-3-4.svg"/><Relationship Id="rId5" Type="http://schemas.openxmlformats.org/officeDocument/2006/relationships/image" Target="../media/image-3-5.png"/><Relationship Id="rId6" Type="http://schemas.openxmlformats.org/officeDocument/2006/relationships/image" Target="../media/image-3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image" Target="../media/image-4-3.png"/><Relationship Id="rId4" Type="http://schemas.openxmlformats.org/officeDocument/2006/relationships/image" Target="../media/image-4-4.svg"/><Relationship Id="rId5" Type="http://schemas.openxmlformats.org/officeDocument/2006/relationships/image" Target="../media/image-4-5.png"/><Relationship Id="rId6" Type="http://schemas.openxmlformats.org/officeDocument/2006/relationships/image" Target="../media/image-4-6.svg"/><Relationship Id="rId7" Type="http://schemas.openxmlformats.org/officeDocument/2006/relationships/image" Target="../media/image-4-7.png"/><Relationship Id="rId8" Type="http://schemas.openxmlformats.org/officeDocument/2006/relationships/image" Target="../media/image-4-8.sv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image" Target="../media/image-6-3.png"/><Relationship Id="rId4" Type="http://schemas.openxmlformats.org/officeDocument/2006/relationships/image" Target="../media/image-6-4.svg"/><Relationship Id="rId5" Type="http://schemas.openxmlformats.org/officeDocument/2006/relationships/image" Target="../media/image-6-5.png"/><Relationship Id="rId6" Type="http://schemas.openxmlformats.org/officeDocument/2006/relationships/image" Target="../media/image-6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F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8453C"/>
          </a:solidFill>
          <a:ln w="12700">
            <a:solidFill>
              <a:srgbClr val="E845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0"/>
            <a:ext cx="2286000" cy="2286000"/>
          </a:xfrm>
          <a:prstGeom prst="rect">
            <a:avLst/>
          </a:prstGeom>
          <a:solidFill>
            <a:srgbClr val="252B3B"/>
          </a:solidFill>
          <a:ln w="12700">
            <a:solidFill>
              <a:srgbClr val="252B3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0" y="0"/>
            <a:ext cx="914400" cy="2286000"/>
          </a:xfrm>
          <a:prstGeom prst="rect">
            <a:avLst/>
          </a:prstGeom>
          <a:solidFill>
            <a:srgbClr val="E8453C">
              <a:alpha val="30000"/>
            </a:srgbClr>
          </a:solidFill>
          <a:ln w="12700">
            <a:solidFill>
              <a:srgbClr val="E8453C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502920"/>
            <a:ext cx="1005840" cy="1005840"/>
          </a:xfrm>
          <a:prstGeom prst="ellipse">
            <a:avLst/>
          </a:prstGeom>
          <a:solidFill>
            <a:srgbClr val="E8453C"/>
          </a:solidFill>
          <a:ln w="12700">
            <a:solidFill>
              <a:srgbClr val="E8453C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94360" y="667512"/>
            <a:ext cx="640080" cy="6400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20040" y="1828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PASS24.online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320040" y="1691640"/>
            <a:ext cx="1920240" cy="274320"/>
          </a:xfrm>
          <a:prstGeom prst="rect">
            <a:avLst/>
          </a:prstGeom>
          <a:solidFill>
            <a:srgbClr val="E8453C"/>
          </a:solidFill>
          <a:ln w="12700">
            <a:solidFill>
              <a:srgbClr val="E8453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20040" y="169164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Сегмент 16/16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320040" y="2029968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B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Коммерческое предложение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B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 рекламному размещению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320040" y="2578608"/>
            <a:ext cx="6583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Клининг</a:t>
            </a:r>
            <a:endParaRPr lang="en-US" sz="4400" dirty="0"/>
          </a:p>
        </p:txBody>
      </p:sp>
      <p:sp>
        <p:nvSpPr>
          <p:cNvPr id="12" name="Text 9"/>
          <p:cNvSpPr/>
          <p:nvPr/>
        </p:nvSpPr>
        <p:spPr>
          <a:xfrm>
            <a:off x="320040" y="361188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B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Уборка — сервис, который нужен всем, кто управляет пространством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252B3B"/>
          </a:solidFill>
          <a:ln w="12700">
            <a:solidFill>
              <a:srgbClr val="252B3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20040" y="4892040"/>
            <a:ext cx="850392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B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Оффер для партнёров и рекламодателей  ·  PASS24.online  ·  PASS24 Market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1F2E"/>
          </a:solidFill>
          <a:ln w="12700">
            <a:solidFill>
              <a:srgbClr val="1A1F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B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PASS24.online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743200" y="0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B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Сегмент 16/16  ·  Клининг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20040" y="64008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3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Почему PASS24.online — сильный B2B/B2C-канал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20040" y="1371600"/>
            <a:ext cx="475488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AE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371600"/>
            <a:ext cx="64008" cy="2560320"/>
          </a:xfrm>
          <a:prstGeom prst="rect">
            <a:avLst/>
          </a:prstGeom>
          <a:solidFill>
            <a:srgbClr val="E8453C"/>
          </a:solidFill>
          <a:ln w="12700">
            <a:solidFill>
              <a:srgbClr val="E845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4813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45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Почему подходит</a:t>
            </a:r>
            <a:endParaRPr lang="en-US" sz="11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02920" y="1874520"/>
            <a:ext cx="201168" cy="20116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77240" y="1819656"/>
            <a:ext cx="4160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Дома, коттеджи, офисы и объекты — прямая аудитория PASS24.online</a:t>
            </a:r>
            <a:endParaRPr lang="en-US" sz="11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02920" y="2514600"/>
            <a:ext cx="201168" cy="20116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77240" y="2459736"/>
            <a:ext cx="4160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Баннер + витрина работают как премиальный канал доверия в нативной среде</a:t>
            </a:r>
            <a:endParaRPr lang="en-US" sz="110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02920" y="3154680"/>
            <a:ext cx="201168" cy="20116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77240" y="3099816"/>
            <a:ext cx="4160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Marketplace особенно эффективен: performance-модель с агентскими выплатами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5257800" y="1371600"/>
            <a:ext cx="17373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AE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Text 11"/>
          <p:cNvSpPr/>
          <p:nvPr/>
        </p:nvSpPr>
        <p:spPr>
          <a:xfrm>
            <a:off x="5257800" y="150876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45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300 000+</a:t>
            </a:r>
            <a:endParaRPr lang="en-US" sz="2200" dirty="0"/>
          </a:p>
        </p:txBody>
      </p:sp>
      <p:sp>
        <p:nvSpPr>
          <p:cNvPr id="17" name="Text 12"/>
          <p:cNvSpPr/>
          <p:nvPr/>
        </p:nvSpPr>
        <p:spPr>
          <a:xfrm>
            <a:off x="5257800" y="196596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Активных пользователей</a:t>
            </a:r>
            <a:endParaRPr lang="en-US" sz="900" dirty="0"/>
          </a:p>
        </p:txBody>
      </p:sp>
      <p:sp>
        <p:nvSpPr>
          <p:cNvPr id="18" name="Shape 13"/>
          <p:cNvSpPr/>
          <p:nvPr/>
        </p:nvSpPr>
        <p:spPr>
          <a:xfrm>
            <a:off x="7223760" y="1371600"/>
            <a:ext cx="17373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AE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Text 14"/>
          <p:cNvSpPr/>
          <p:nvPr/>
        </p:nvSpPr>
        <p:spPr>
          <a:xfrm>
            <a:off x="7223760" y="150876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45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14 000</a:t>
            </a:r>
            <a:endParaRPr lang="en-US" sz="2200" dirty="0"/>
          </a:p>
        </p:txBody>
      </p:sp>
      <p:sp>
        <p:nvSpPr>
          <p:cNvPr id="20" name="Text 15"/>
          <p:cNvSpPr/>
          <p:nvPr/>
        </p:nvSpPr>
        <p:spPr>
          <a:xfrm>
            <a:off x="7223760" y="196596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DAU — ежедневно</a:t>
            </a:r>
            <a:endParaRPr lang="en-US" sz="900" dirty="0"/>
          </a:p>
        </p:txBody>
      </p:sp>
      <p:sp>
        <p:nvSpPr>
          <p:cNvPr id="21" name="Shape 16"/>
          <p:cNvSpPr/>
          <p:nvPr/>
        </p:nvSpPr>
        <p:spPr>
          <a:xfrm>
            <a:off x="5257800" y="2697480"/>
            <a:ext cx="17373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AE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Text 17"/>
          <p:cNvSpPr/>
          <p:nvPr/>
        </p:nvSpPr>
        <p:spPr>
          <a:xfrm>
            <a:off x="5257800" y="283464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45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1,4 млн+</a:t>
            </a:r>
            <a:endParaRPr lang="en-US" sz="2200" dirty="0"/>
          </a:p>
        </p:txBody>
      </p:sp>
      <p:sp>
        <p:nvSpPr>
          <p:cNvPr id="23" name="Text 18"/>
          <p:cNvSpPr/>
          <p:nvPr/>
        </p:nvSpPr>
        <p:spPr>
          <a:xfrm>
            <a:off x="5257800" y="329184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Показов в месяц</a:t>
            </a:r>
            <a:endParaRPr lang="en-US" sz="900" dirty="0"/>
          </a:p>
        </p:txBody>
      </p:sp>
      <p:sp>
        <p:nvSpPr>
          <p:cNvPr id="24" name="Shape 19"/>
          <p:cNvSpPr/>
          <p:nvPr/>
        </p:nvSpPr>
        <p:spPr>
          <a:xfrm>
            <a:off x="7223760" y="2697480"/>
            <a:ext cx="17373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AE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Text 20"/>
          <p:cNvSpPr/>
          <p:nvPr/>
        </p:nvSpPr>
        <p:spPr>
          <a:xfrm>
            <a:off x="7223760" y="283464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45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4 300</a:t>
            </a:r>
            <a:endParaRPr lang="en-US" sz="2200" dirty="0"/>
          </a:p>
        </p:txBody>
      </p:sp>
      <p:sp>
        <p:nvSpPr>
          <p:cNvPr id="26" name="Text 21"/>
          <p:cNvSpPr/>
          <p:nvPr/>
        </p:nvSpPr>
        <p:spPr>
          <a:xfrm>
            <a:off x="7223760" y="329184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Новых пользователей / мес</a:t>
            </a:r>
            <a:endParaRPr lang="en-US" sz="900" dirty="0"/>
          </a:p>
        </p:txBody>
      </p:sp>
      <p:sp>
        <p:nvSpPr>
          <p:cNvPr id="27" name="Shape 22"/>
          <p:cNvSpPr/>
          <p:nvPr/>
        </p:nvSpPr>
        <p:spPr>
          <a:xfrm>
            <a:off x="320040" y="4160520"/>
            <a:ext cx="8503920" cy="640080"/>
          </a:xfrm>
          <a:prstGeom prst="rect">
            <a:avLst/>
          </a:prstGeom>
          <a:solidFill>
            <a:srgbClr val="FEF1F1"/>
          </a:solidFill>
          <a:ln w="12700">
            <a:solidFill>
              <a:srgbClr val="E8EAED"/>
            </a:solidFill>
            <a:prstDash val="solid"/>
          </a:ln>
        </p:spPr>
      </p:sp>
      <p:sp>
        <p:nvSpPr>
          <p:cNvPr id="28" name="Text 23"/>
          <p:cNvSpPr/>
          <p:nvPr/>
        </p:nvSpPr>
        <p:spPr>
          <a:xfrm>
            <a:off x="502920" y="422452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C3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массовый случайный трафик — а доступ к людям, которые управляют недвижимостью и объектами. Ежедневно.</a:t>
            </a:r>
            <a:endParaRPr lang="en-US" sz="1100" dirty="0"/>
          </a:p>
        </p:txBody>
      </p:sp>
      <p:sp>
        <p:nvSpPr>
          <p:cNvPr id="29" name="Shape 2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1F2E"/>
          </a:solidFill>
          <a:ln w="12700">
            <a:solidFill>
              <a:srgbClr val="1A1F2E"/>
            </a:solidFill>
            <a:prstDash val="solid"/>
          </a:ln>
        </p:spPr>
      </p:sp>
      <p:sp>
        <p:nvSpPr>
          <p:cNvPr id="30" name="Text 25"/>
          <p:cNvSpPr/>
          <p:nvPr/>
        </p:nvSpPr>
        <p:spPr>
          <a:xfrm>
            <a:off x="320040" y="4892040"/>
            <a:ext cx="850392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B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PASS24.online  ·  PASS24 Market  ·  Рекламный оффер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1F2E"/>
          </a:solidFill>
          <a:ln w="12700">
            <a:solidFill>
              <a:srgbClr val="1A1F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B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PASS24.online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743200" y="0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B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Сегмент 16/16  ·  Клининг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20040" y="64008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3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Боли рекламодателя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20040" y="1234440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Типичные проблемы при продвижении в сегменте «Клининг»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0040" y="1691640"/>
            <a:ext cx="2743200" cy="2514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AE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691640"/>
            <a:ext cx="2743200" cy="64008"/>
          </a:xfrm>
          <a:prstGeom prst="rect">
            <a:avLst/>
          </a:prstGeom>
          <a:solidFill>
            <a:srgbClr val="E8453C"/>
          </a:solidFill>
          <a:ln w="12700">
            <a:solidFill>
              <a:srgbClr val="E8453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84632" y="1828800"/>
            <a:ext cx="411480" cy="411480"/>
          </a:xfrm>
          <a:prstGeom prst="ellipse">
            <a:avLst/>
          </a:prstGeom>
          <a:solidFill>
            <a:srgbClr val="E8453C"/>
          </a:solidFill>
          <a:ln w="12700">
            <a:solidFill>
              <a:srgbClr val="E8453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4632" y="18288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02920" y="2395728"/>
            <a:ext cx="256032" cy="256032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822960" y="242316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845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Проблема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484632" y="2743200"/>
            <a:ext cx="2377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Рынок перегрет, доверие к клинингу часто низкое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3200400" y="1691640"/>
            <a:ext cx="2743200" cy="2514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AE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3200400" y="1691640"/>
            <a:ext cx="2743200" cy="64008"/>
          </a:xfrm>
          <a:prstGeom prst="rect">
            <a:avLst/>
          </a:prstGeom>
          <a:solidFill>
            <a:srgbClr val="E8453C"/>
          </a:solidFill>
          <a:ln w="12700">
            <a:solidFill>
              <a:srgbClr val="E8453C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3364992" y="1828800"/>
            <a:ext cx="411480" cy="411480"/>
          </a:xfrm>
          <a:prstGeom prst="ellipse">
            <a:avLst/>
          </a:prstGeom>
          <a:solidFill>
            <a:srgbClr val="E8453C"/>
          </a:solidFill>
          <a:ln w="12700">
            <a:solidFill>
              <a:srgbClr val="E8453C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364992" y="18288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383280" y="2395728"/>
            <a:ext cx="256032" cy="256032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3703320" y="242316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845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Проблема</a:t>
            </a:r>
            <a:endParaRPr lang="en-US" sz="900" dirty="0"/>
          </a:p>
        </p:txBody>
      </p:sp>
      <p:sp>
        <p:nvSpPr>
          <p:cNvPr id="20" name="Text 16"/>
          <p:cNvSpPr/>
          <p:nvPr/>
        </p:nvSpPr>
        <p:spPr>
          <a:xfrm>
            <a:off x="3364992" y="2743200"/>
            <a:ext cx="2377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Клиенту нужно быстро понять: компания надёжная, аккуратная, берёт ответственность</a:t>
            </a:r>
            <a:endParaRPr lang="en-US" sz="1050" dirty="0"/>
          </a:p>
        </p:txBody>
      </p:sp>
      <p:sp>
        <p:nvSpPr>
          <p:cNvPr id="21" name="Shape 17"/>
          <p:cNvSpPr/>
          <p:nvPr/>
        </p:nvSpPr>
        <p:spPr>
          <a:xfrm>
            <a:off x="6080760" y="1691640"/>
            <a:ext cx="2743200" cy="2514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AE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6080760" y="1691640"/>
            <a:ext cx="2743200" cy="64008"/>
          </a:xfrm>
          <a:prstGeom prst="rect">
            <a:avLst/>
          </a:prstGeom>
          <a:solidFill>
            <a:srgbClr val="E8453C"/>
          </a:solidFill>
          <a:ln w="12700">
            <a:solidFill>
              <a:srgbClr val="E8453C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6245352" y="1828800"/>
            <a:ext cx="411480" cy="411480"/>
          </a:xfrm>
          <a:prstGeom prst="ellipse">
            <a:avLst/>
          </a:prstGeom>
          <a:solidFill>
            <a:srgbClr val="E8453C"/>
          </a:solidFill>
          <a:ln w="12700">
            <a:solidFill>
              <a:srgbClr val="E8453C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6245352" y="18288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263640" y="2395728"/>
            <a:ext cx="256032" cy="256032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6583680" y="242316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845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Проблема</a:t>
            </a:r>
            <a:endParaRPr lang="en-US" sz="900" dirty="0"/>
          </a:p>
        </p:txBody>
      </p:sp>
      <p:sp>
        <p:nvSpPr>
          <p:cNvPr id="27" name="Text 22"/>
          <p:cNvSpPr/>
          <p:nvPr/>
        </p:nvSpPr>
        <p:spPr>
          <a:xfrm>
            <a:off x="6245352" y="2743200"/>
            <a:ext cx="2377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Нужна не только узнаваемость, а понятный канал заявок и повторных заказов</a:t>
            </a:r>
            <a:endParaRPr lang="en-US" sz="1050" dirty="0"/>
          </a:p>
        </p:txBody>
      </p:sp>
      <p:sp>
        <p:nvSpPr>
          <p:cNvPr id="28" name="Shape 23"/>
          <p:cNvSpPr/>
          <p:nvPr/>
        </p:nvSpPr>
        <p:spPr>
          <a:xfrm>
            <a:off x="320040" y="4389120"/>
            <a:ext cx="8503920" cy="347472"/>
          </a:xfrm>
          <a:prstGeom prst="rect">
            <a:avLst/>
          </a:prstGeom>
          <a:solidFill>
            <a:srgbClr val="FEF1F1"/>
          </a:solidFill>
          <a:ln w="12700">
            <a:solidFill>
              <a:srgbClr val="E8EAED"/>
            </a:solidFill>
            <a:prstDash val="solid"/>
          </a:ln>
        </p:spPr>
      </p:sp>
      <p:sp>
        <p:nvSpPr>
          <p:cNvPr id="29" name="Text 24"/>
          <p:cNvSpPr/>
          <p:nvPr/>
        </p:nvSpPr>
        <p:spPr>
          <a:xfrm>
            <a:off x="502920" y="443484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2C3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PASS24.online решает эти задачи — точная аудитория, нативная среда, доступ к ЛПР.</a:t>
            </a:r>
            <a:endParaRPr lang="en-US" sz="1050" dirty="0"/>
          </a:p>
        </p:txBody>
      </p:sp>
      <p:sp>
        <p:nvSpPr>
          <p:cNvPr id="30" name="Shape 25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1F2E"/>
          </a:solidFill>
          <a:ln w="12700">
            <a:solidFill>
              <a:srgbClr val="1A1F2E"/>
            </a:solidFill>
            <a:prstDash val="solid"/>
          </a:ln>
        </p:spPr>
      </p:sp>
      <p:sp>
        <p:nvSpPr>
          <p:cNvPr id="31" name="Text 26"/>
          <p:cNvSpPr/>
          <p:nvPr/>
        </p:nvSpPr>
        <p:spPr>
          <a:xfrm>
            <a:off x="320040" y="4892040"/>
            <a:ext cx="850392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B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PASS24.online  ·  PASS24 Market  ·  Рекламный оффер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1F2E"/>
          </a:solidFill>
          <a:ln w="12700">
            <a:solidFill>
              <a:srgbClr val="1A1F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B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PASS24.online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743200" y="0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B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Сегмент 16/16  ·  Клининг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20040" y="64008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3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получает рекламодатель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20040" y="1371600"/>
            <a:ext cx="41605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AE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371600"/>
            <a:ext cx="64008" cy="1234440"/>
          </a:xfrm>
          <a:prstGeom prst="rect">
            <a:avLst/>
          </a:prstGeom>
          <a:solidFill>
            <a:srgbClr val="E8453C"/>
          </a:solidFill>
          <a:ln w="12700">
            <a:solidFill>
              <a:srgbClr val="E8453C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84632" y="1481328"/>
            <a:ext cx="256032" cy="25603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22960" y="1444752"/>
            <a:ext cx="352044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Прямой доступ к аудитории, управляющей пространством и ценящей сервис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663440" y="1371600"/>
            <a:ext cx="41605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AE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663440" y="1371600"/>
            <a:ext cx="64008" cy="1234440"/>
          </a:xfrm>
          <a:prstGeom prst="rect">
            <a:avLst/>
          </a:prstGeom>
          <a:solidFill>
            <a:srgbClr val="E8453C"/>
          </a:solidFill>
          <a:ln w="12700">
            <a:solidFill>
              <a:srgbClr val="E8453C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828032" y="1481328"/>
            <a:ext cx="256032" cy="25603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166360" y="1444752"/>
            <a:ext cx="352044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Нативное позиционирование как доверенный сервис объекта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320040" y="2834640"/>
            <a:ext cx="41605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AE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320040" y="2834640"/>
            <a:ext cx="64008" cy="1234440"/>
          </a:xfrm>
          <a:prstGeom prst="rect">
            <a:avLst/>
          </a:prstGeom>
          <a:solidFill>
            <a:srgbClr val="E8453C"/>
          </a:solidFill>
          <a:ln w="12700">
            <a:solidFill>
              <a:srgbClr val="E8453C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84632" y="2944368"/>
            <a:ext cx="256032" cy="25603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22960" y="2907792"/>
            <a:ext cx="352044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Marketplace по CPL/CPS — платите только за реальные заявки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4663440" y="2834640"/>
            <a:ext cx="41605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AE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4663440" y="2834640"/>
            <a:ext cx="64008" cy="1234440"/>
          </a:xfrm>
          <a:prstGeom prst="rect">
            <a:avLst/>
          </a:prstGeom>
          <a:solidFill>
            <a:srgbClr val="E8453C"/>
          </a:solidFill>
          <a:ln w="12700">
            <a:solidFill>
              <a:srgbClr val="E8453C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828032" y="2944368"/>
            <a:ext cx="256032" cy="256032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5166360" y="2907792"/>
            <a:ext cx="352044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Гибкие форматы: баннер + витрина или только Marketplace от 50 000 ₽</a:t>
            </a:r>
            <a:endParaRPr lang="en-US" sz="1100" dirty="0"/>
          </a:p>
        </p:txBody>
      </p:sp>
      <p:sp>
        <p:nvSpPr>
          <p:cNvPr id="22" name="Shape 16"/>
          <p:cNvSpPr/>
          <p:nvPr/>
        </p:nvSpPr>
        <p:spPr>
          <a:xfrm>
            <a:off x="320040" y="4224528"/>
            <a:ext cx="8503920" cy="502920"/>
          </a:xfrm>
          <a:prstGeom prst="rect">
            <a:avLst/>
          </a:prstGeom>
          <a:solidFill>
            <a:srgbClr val="1A1F2E"/>
          </a:solidFill>
          <a:ln w="12700">
            <a:solidFill>
              <a:srgbClr val="1A1F2E"/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502920" y="42519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Аналитика размещения: показы · клики · уникальные пользователи · UTM-ссылки на стороне рекламодателя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1F2E"/>
          </a:solidFill>
          <a:ln w="12700">
            <a:solidFill>
              <a:srgbClr val="1A1F2E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320040" y="4892040"/>
            <a:ext cx="850392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B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PASS24.online  ·  PASS24 Market  ·  Рекламный оффер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1F2E"/>
          </a:solidFill>
          <a:ln w="12700">
            <a:solidFill>
              <a:srgbClr val="1A1F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B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PASS24.online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743200" y="0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B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Сегмент 16/16  ·  Клининг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20040" y="64008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3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Рекомендуемый пакет размещения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20040" y="1417320"/>
            <a:ext cx="2743200" cy="3108960"/>
          </a:xfrm>
          <a:prstGeom prst="rect">
            <a:avLst/>
          </a:prstGeom>
          <a:solidFill>
            <a:srgbClr val="FFFFFF"/>
          </a:solidFill>
          <a:ln w="25400">
            <a:solidFill>
              <a:srgbClr val="E8453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417320"/>
            <a:ext cx="2743200" cy="54864"/>
          </a:xfrm>
          <a:prstGeom prst="rect">
            <a:avLst/>
          </a:prstGeom>
          <a:solidFill>
            <a:srgbClr val="E8453C"/>
          </a:solidFill>
          <a:ln w="12700">
            <a:solidFill>
              <a:srgbClr val="E8453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84632" y="1554480"/>
            <a:ext cx="1234440" cy="256032"/>
          </a:xfrm>
          <a:prstGeom prst="rect">
            <a:avLst/>
          </a:prstGeom>
          <a:solidFill>
            <a:srgbClr val="E8453C"/>
          </a:solidFill>
          <a:ln w="12700">
            <a:solidFill>
              <a:srgbClr val="E8453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4632" y="1554480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Рекомендуется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484632" y="1938528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C3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Баннер в приложении + Витрина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84632" y="248716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845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100 000 ₽ / мес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484632" y="2907792"/>
            <a:ext cx="2377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Базовый и самый сильный оффер.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Ежедневный контакт + место для аргументов, кейсов и ссылок.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200400" y="1417320"/>
            <a:ext cx="274320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AE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0" y="1417320"/>
            <a:ext cx="2743200" cy="54864"/>
          </a:xfrm>
          <a:prstGeom prst="rect">
            <a:avLst/>
          </a:prstGeom>
          <a:solidFill>
            <a:srgbClr val="9BA3AF"/>
          </a:solidFill>
          <a:ln w="12700">
            <a:solidFill>
              <a:srgbClr val="9BA3A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364992" y="1554480"/>
            <a:ext cx="1234440" cy="256032"/>
          </a:xfrm>
          <a:prstGeom prst="rect">
            <a:avLst/>
          </a:prstGeom>
          <a:solidFill>
            <a:srgbClr val="9BA3AF"/>
          </a:solidFill>
          <a:ln w="12700">
            <a:solidFill>
              <a:srgbClr val="9BA3A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64992" y="1554480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B2B усиление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3364992" y="1938528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C3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Баннер в админ-панели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3364992" y="248716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45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+20 000 ₽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364992" y="2907792"/>
            <a:ext cx="2377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Для B2B-работы с управляющими, администраторами и УК.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Доступ к лицам, принимающим инфраструктурные решения.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080760" y="1417320"/>
            <a:ext cx="274320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AE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080760" y="1417320"/>
            <a:ext cx="2743200" cy="54864"/>
          </a:xfrm>
          <a:prstGeom prst="rect">
            <a:avLst/>
          </a:prstGeom>
          <a:solidFill>
            <a:srgbClr val="9BA3AF"/>
          </a:solidFill>
          <a:ln w="12700">
            <a:solidFill>
              <a:srgbClr val="9BA3A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245352" y="1554480"/>
            <a:ext cx="1234440" cy="256032"/>
          </a:xfrm>
          <a:prstGeom prst="rect">
            <a:avLst/>
          </a:prstGeom>
          <a:solidFill>
            <a:srgbClr val="9BA3AF"/>
          </a:solidFill>
          <a:ln w="12700">
            <a:solidFill>
              <a:srgbClr val="9BA3A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45352" y="1554480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Дополнение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6245352" y="1938528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C3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Marketplace PASS24 Market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6245352" y="248716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45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Бесплатно / 50 000 ₽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245352" y="2907792"/>
            <a:ext cx="2377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Бесплатно при баннерном размещении.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Или отдельно — по агентской performance-модели.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20040" y="4645152"/>
            <a:ext cx="8503920" cy="137160"/>
          </a:xfrm>
          <a:prstGeom prst="rect">
            <a:avLst/>
          </a:prstGeom>
          <a:solidFill>
            <a:srgbClr val="FEF1F1"/>
          </a:solidFill>
          <a:ln w="12700">
            <a:solidFill>
              <a:srgbClr val="E8EAE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11480" y="4663440"/>
            <a:ext cx="8321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Баннер + Витрина — 100 000 ₽  ·  Только Marketplace (CPL/CPS агентская модель) — от 50 000 ₽  ·  Marketplace бесплатно при баннерном размещении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1F2E"/>
          </a:solidFill>
          <a:ln w="12700">
            <a:solidFill>
              <a:srgbClr val="1A1F2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0040" y="4892040"/>
            <a:ext cx="850392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B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PASS24.online  ·  PASS24 Market  ·  Рекламный оффер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1F2E"/>
          </a:solidFill>
          <a:ln w="12700">
            <a:solidFill>
              <a:srgbClr val="1A1F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B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PASS24.online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743200" y="0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B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Сегмент 16/16  ·  Клининг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20040" y="64008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3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Рекламные сообщения и угол подачи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20040" y="1234440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Примеры сообщений для баннера и витрины в PASS24.online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0040" y="1691640"/>
            <a:ext cx="85039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AE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691640"/>
            <a:ext cx="64008" cy="749808"/>
          </a:xfrm>
          <a:prstGeom prst="rect">
            <a:avLst/>
          </a:prstGeom>
          <a:solidFill>
            <a:srgbClr val="E8453C"/>
          </a:solidFill>
          <a:ln w="12700">
            <a:solidFill>
              <a:srgbClr val="E8453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1856232"/>
            <a:ext cx="384048" cy="384048"/>
          </a:xfrm>
          <a:prstGeom prst="ellipse">
            <a:avLst/>
          </a:prstGeom>
          <a:solidFill>
            <a:srgbClr val="E8453C"/>
          </a:solidFill>
          <a:ln w="12700">
            <a:solidFill>
              <a:srgbClr val="E8453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18562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51560" y="1938528"/>
            <a:ext cx="201168" cy="201168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325880" y="1783080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Клининг для дома и офиса: разовая уборка, генеральная, послеремонтная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320040" y="2606040"/>
            <a:ext cx="85039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AE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320040" y="2606040"/>
            <a:ext cx="64008" cy="749808"/>
          </a:xfrm>
          <a:prstGeom prst="rect">
            <a:avLst/>
          </a:prstGeom>
          <a:solidFill>
            <a:srgbClr val="E8453C"/>
          </a:solidFill>
          <a:ln w="12700">
            <a:solidFill>
              <a:srgbClr val="E8453C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48640" y="2770632"/>
            <a:ext cx="384048" cy="384048"/>
          </a:xfrm>
          <a:prstGeom prst="ellipse">
            <a:avLst/>
          </a:prstGeom>
          <a:solidFill>
            <a:srgbClr val="E8453C"/>
          </a:solidFill>
          <a:ln w="12700">
            <a:solidFill>
              <a:srgbClr val="E8453C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48640" y="27706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51560" y="2852928"/>
            <a:ext cx="201168" cy="201168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1325880" y="2697480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Чистота без лишних хлопот — профессиональный клининг с гарантией результата</a:t>
            </a:r>
            <a:endParaRPr lang="en-US" sz="1250" dirty="0"/>
          </a:p>
        </p:txBody>
      </p:sp>
      <p:sp>
        <p:nvSpPr>
          <p:cNvPr id="19" name="Shape 15"/>
          <p:cNvSpPr/>
          <p:nvPr/>
        </p:nvSpPr>
        <p:spPr>
          <a:xfrm>
            <a:off x="320040" y="3520440"/>
            <a:ext cx="85039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AE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320040" y="3520440"/>
            <a:ext cx="64008" cy="749808"/>
          </a:xfrm>
          <a:prstGeom prst="rect">
            <a:avLst/>
          </a:prstGeom>
          <a:solidFill>
            <a:srgbClr val="E8453C"/>
          </a:solidFill>
          <a:ln w="12700">
            <a:solidFill>
              <a:srgbClr val="E8453C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548640" y="3685032"/>
            <a:ext cx="384048" cy="384048"/>
          </a:xfrm>
          <a:prstGeom prst="ellipse">
            <a:avLst/>
          </a:prstGeom>
          <a:solidFill>
            <a:srgbClr val="E8453C"/>
          </a:solidFill>
          <a:ln w="12700">
            <a:solidFill>
              <a:srgbClr val="E8453C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548640" y="36850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51560" y="3767328"/>
            <a:ext cx="201168" cy="201168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1325880" y="3611880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Уборка коттеджа, офиса, склада: опытная бригада, страховка, договор</a:t>
            </a:r>
            <a:endParaRPr lang="en-US" sz="1250" dirty="0"/>
          </a:p>
        </p:txBody>
      </p:sp>
      <p:sp>
        <p:nvSpPr>
          <p:cNvPr id="25" name="Shape 20"/>
          <p:cNvSpPr/>
          <p:nvPr/>
        </p:nvSpPr>
        <p:spPr>
          <a:xfrm>
            <a:off x="320040" y="4526280"/>
            <a:ext cx="8503920" cy="201168"/>
          </a:xfrm>
          <a:prstGeom prst="rect">
            <a:avLst/>
          </a:prstGeom>
          <a:solidFill>
            <a:srgbClr val="FEF1F1"/>
          </a:solidFill>
          <a:ln w="12700">
            <a:solidFill>
              <a:srgbClr val="E8EAED"/>
            </a:solidFill>
            <a:prstDash val="solid"/>
          </a:ln>
        </p:spPr>
      </p:sp>
      <p:sp>
        <p:nvSpPr>
          <p:cNvPr id="26" name="Text 21"/>
          <p:cNvSpPr/>
          <p:nvPr/>
        </p:nvSpPr>
        <p:spPr>
          <a:xfrm>
            <a:off x="411480" y="4544568"/>
            <a:ext cx="8321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Угол подачи: не продажа «в лоб», а польза для вашего объекта, комфорта и эксплуатации. Нативно — в контексте ежедневного управления.</a:t>
            </a:r>
            <a:endParaRPr lang="en-US" sz="850" dirty="0"/>
          </a:p>
        </p:txBody>
      </p:sp>
      <p:sp>
        <p:nvSpPr>
          <p:cNvPr id="27" name="Shape 2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1F2E"/>
          </a:solidFill>
          <a:ln w="12700">
            <a:solidFill>
              <a:srgbClr val="1A1F2E"/>
            </a:solidFill>
            <a:prstDash val="solid"/>
          </a:ln>
        </p:spPr>
      </p:sp>
      <p:sp>
        <p:nvSpPr>
          <p:cNvPr id="28" name="Text 23"/>
          <p:cNvSpPr/>
          <p:nvPr/>
        </p:nvSpPr>
        <p:spPr>
          <a:xfrm>
            <a:off x="320040" y="4892040"/>
            <a:ext cx="850392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B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PASS24.online  ·  PASS24 Market  ·  Рекламный оффер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F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8453C"/>
          </a:solidFill>
          <a:ln w="12700">
            <a:solidFill>
              <a:srgbClr val="E845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3200400"/>
            <a:ext cx="1371600" cy="1943100"/>
          </a:xfrm>
          <a:prstGeom prst="rect">
            <a:avLst/>
          </a:prstGeom>
          <a:solidFill>
            <a:srgbClr val="252B3B"/>
          </a:solidFill>
          <a:ln w="12700">
            <a:solidFill>
              <a:srgbClr val="252B3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503920" y="0"/>
            <a:ext cx="640080" cy="5143500"/>
          </a:xfrm>
          <a:prstGeom prst="rect">
            <a:avLst/>
          </a:prstGeom>
          <a:solidFill>
            <a:srgbClr val="E8453C">
              <a:alpha val="20000"/>
            </a:srgbClr>
          </a:solidFill>
          <a:ln w="12700">
            <a:solidFill>
              <a:srgbClr val="E8453C">
                <a:alpha val="2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2743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PASS24.online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685800"/>
            <a:ext cx="2011680" cy="274320"/>
          </a:xfrm>
          <a:prstGeom prst="rect">
            <a:avLst/>
          </a:prstGeom>
          <a:solidFill>
            <a:srgbClr val="E8453C"/>
          </a:solidFill>
          <a:ln w="12700">
            <a:solidFill>
              <a:srgbClr val="E8453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6858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Сегмент 16/16 · Клининг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320040" y="1078992"/>
            <a:ext cx="68580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Готовы разместиться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PASS24.online?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320040" y="237744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B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Перестаньте бороться за клики в перегретом рынке — занимайте место доверенного клинингового сервиса в PASS24.online.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20040" y="3246120"/>
            <a:ext cx="3474720" cy="566928"/>
          </a:xfrm>
          <a:prstGeom prst="rect">
            <a:avLst/>
          </a:prstGeom>
          <a:solidFill>
            <a:srgbClr val="E8453C"/>
          </a:solidFill>
          <a:ln w="12700">
            <a:solidFill>
              <a:srgbClr val="E8453C"/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02920" y="3346704"/>
            <a:ext cx="320040" cy="32004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868680" y="3273552"/>
            <a:ext cx="2788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Получить медиакит и КП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320040" y="39776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B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pass24.online  ·  PASS24 Market  ·  Рекламное размещение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252B3B"/>
          </a:solidFill>
          <a:ln w="12700">
            <a:solidFill>
              <a:srgbClr val="252B3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20040" y="4892040"/>
            <a:ext cx="850392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B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Оффер для партнёров и рекламодателей  ·  PASS24.online  ·  PASS24 Market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2026-04-09T07:34:18Z</dcterms:created>
  <dcterms:modified xsi:type="dcterms:W3CDTF">2026-04-09T07:34:18Z</dcterms:modified>
</cp:coreProperties>
</file>